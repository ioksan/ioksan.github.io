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Adverts (of 10)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Networking</c:v>
                  </c:pt>
                  <c:pt idx="1">
                    <c:v>Customer communication</c:v>
                  </c:pt>
                  <c:pt idx="2">
                    <c:v>Ticketing / SLAs</c:v>
                  </c:pt>
                  <c:pt idx="3">
                    <c:v>Security / data protection</c:v>
                  </c:pt>
                  <c:pt idx="4">
                    <c:v>Microsoft 365 / Entra / Intune</c:v>
                  </c:pt>
                  <c:pt idx="5">
                    <c:v>Driving licence</c:v>
                  </c:pt>
                  <c:pt idx="6">
                    <c:v>Shift or on-call work</c:v>
                  </c:pt>
                  <c:pt idx="7">
                    <c:v>Azure</c:v>
                  </c:pt>
                  <c:pt idx="8">
                    <c:v>Cisco by name</c:v>
                  </c:pt>
                  <c:pt idx="9">
                    <c:v>ITIL by name</c:v>
                  </c:pt>
                  <c:pt idx="10">
                    <c:v>AWS</c:v>
                  </c:pt>
                  <c:pt idx="11">
                    <c:v>Certification required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sub-field and the target advert. Link to the CV and covering letter, which are written to the same advert.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adverts are a sample, not a trend, so the national figures from ITJobsWatch are the check. Both point the same way: Microsoft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chart top down. Point out the two zeros: AWS and required certifications.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employer offers a new entrant something different: public-sector stability, structured training, or an internal move that values what I already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the research changed my plan: I moved my cloud goal from AWS to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step is the one the research supports most: a support role that values logistics knowledge, while I build Microsoft and networking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PFD200 · Task 3 · Industry research · Andrei-Cosmin Tutea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1 · MY SUB-FIELD AND TARGET ROLE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First- and second-line infrastructure support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8016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 to day: log and resolve tickets within service levels, set up laptops and accounts, diagnose network and hardware faults, escalate what I cannot fix (adverts 1, 4, 5, 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 advert: Warehouse Systems Support, GXO (Inteq), Milton Keynes, £26–32k, hybrid, 24/7 rotating shifts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Why it fits: IBM 24/7 support and my own ISP (2000–07), seven years in UK logistics, used to night shifts and driving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Why it matters to me: a realistic first step back into IT from my current employer, with a route to infrastructure and cloud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Sources: GXO Logistics (2026); advert log, portfolio Appendix 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2 · THE MARKET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Microsoft skills lead; AWS barely appears at entry level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7373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£28,250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UK median salary, 1st Line Support (6 months to 20 Oct 2026)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325880"/>
            <a:ext cx="2651760" cy="17373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355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permanent 1st Line Support adverts in the same period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51760" cy="17373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52.7%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2402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of those adverts ask for Microsoft 365; Azure 12.1%; AWS not in the top 30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2918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My sample: salaries from £24,000 to £50,000; three of ten adverts gave no salary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Infrastructure roles a step up (data centre, systems administration) pay £35–50k in the sample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Sources: ITJobsWatch (2026); advert log (Reed.co.uk, seen 21 Oct 2026).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3 · WHAT EMPLOYERS ASK FOR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Skill tally across ten adverts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188720"/>
            <a:ext cx="2743200" cy="32918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0" y="1280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What the tally says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64592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Networking is near universal, and my strongest area, but my evidence is old.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No advert required a certificate: employers filter on recent practice.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Essential and desirable kept apart: Azure, SQL and MSP experience appear mostly as desirable.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Sources: Advert log, portfolio Appendix A (10 adverts, Reed.co.uk, 21 Oct 2026).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4 · WHO HIRES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One local, one national and one international employer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1546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64008" cy="31546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Local: Rugby Borough Council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Application and Infrastructure Support Analyst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£33,673–37,563; hybrid up to 60%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Asks for current infrastructure experience, GDPR and cyber awareness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Offers: pension, flexi time, learning and development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234440"/>
            <a:ext cx="2697480" cy="31546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1234440"/>
            <a:ext cx="64008" cy="31546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National: Exponential-e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6916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Data Centre Technician 24/7, Corsham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Some hands-on experience; DC experience not required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Copper and fibre cabling, ticketing, ITIL; security clearance; own car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Offers: in-house training and a route into wider roles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71616" y="1234440"/>
            <a:ext cx="2697480" cy="315468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234440"/>
            <a:ext cx="64008" cy="3154680"/>
          </a:xfrm>
          <a:prstGeom prst="rect">
            <a:avLst/>
          </a:prstGeom>
          <a:solidFill>
            <a:srgbClr val="E07A1F"/>
          </a:solidFill>
          <a:ln w="12700">
            <a:solidFill>
              <a:srgbClr val="E07A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4496" y="1325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International: GXO (Inteq)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16916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Warehouse Systems Support, Milton Keynes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£26–32k; hybrid; 24/7 rotating shifts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Logistics knowledge, troubleshooting, communication; SQL and Azure desirable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Offers: internal route for me; 33 days leave; private medical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Sources: Rugby Borough Council (2026); Exponential-e (2026); GXO Logistics (2026).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5 · MY GAPS AND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Tally against my Task 1.1 self-assessment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 7 goal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Microsoft 365 and Entra 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4/10 adverts; 52.7% nationally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MS-900 by 31 Mar 2027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Azure (not AWS)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3/10 adverts; AWS 0/10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AZ-900 by 31 Jan 2027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Recent networking evidence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9/10 adverts; my practice ended 2007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Three Packet Tracer labs on GitHub by 28 Feb 2027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Live ticket and SLA practice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6/10 adverts; Jira tracked late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</a:rPr>
                        <a:t>Ticket-style log for all work; apply to GXO by 27 Nov 2026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Sources: Portfolio sections 1.1 and Task 2, Table 7; ITJobsWatch (2026).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6 · MY CAREER PATH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From night driver to infrastructure engineer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65960" cy="26517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Now (2026)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10312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Night HGV driver at GXO; FdSc Computing completed Nov 2026; public portfolio on GitHub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04288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96312" y="1463040"/>
            <a:ext cx="1965960" cy="2651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33472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 (2027)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210312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Warehouse Systems Support or 1st/2nd line role; AZ-900 and MS-900; network labs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26864" y="1463040"/>
            <a:ext cx="1965960" cy="26517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Then (2028–29)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10312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Infrastructure or systems administrator; Azure Administrator (AZ-104) or CCNA; Level 6 top-up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1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57416" y="1463040"/>
            <a:ext cx="1965960" cy="265176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94576" y="1600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Longer term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94576" y="2103120"/>
            <a:ext cx="1737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Cloud or network engineer, building on networking and support experience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Sources: Portfolio Task 2, Table 7.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FD200">
  <a:themeElements>
    <a:clrScheme name="PFD200">
      <a:dk1>
        <a:srgbClr val="111827"/>
      </a:dk1>
      <a:lt1>
        <a:srgbClr val="FFFFFF"/>
      </a:lt1>
      <a:dk2>
        <a:srgbClr val="1F4E79"/>
      </a:dk2>
      <a:lt2>
        <a:srgbClr val="EEF2F7"/>
      </a:lt2>
      <a:accent1>
        <a:srgbClr val="1F4E79"/>
      </a:accent1>
      <a:accent2>
        <a:srgbClr val="2E86AB"/>
      </a:accent2>
      <a:accent3>
        <a:srgbClr val="E07A1F"/>
      </a:accent3>
      <a:accent4>
        <a:srgbClr val="6B7280"/>
      </a:accent4>
      <a:accent5>
        <a:srgbClr val="16A34A"/>
      </a:accent5>
      <a:accent6>
        <a:srgbClr val="B91C1C"/>
      </a:accent6>
      <a:hlink>
        <a:srgbClr val="1F4E79"/>
      </a:hlink>
      <a:folHlink>
        <a:srgbClr val="6B7280"/>
      </a:folHlink>
    </a:clrScheme>
    <a:fontScheme name="PFD200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research: infrastructure support</dc:title>
  <dc:subject>PptxGenJS Presentation</dc:subject>
  <dc:creator>Andrei-Cosmin Tutea</dc:creator>
  <cp:lastModifiedBy>Andrei-Cosmin Tutea</cp:lastModifiedBy>
  <cp:revision>1</cp:revision>
  <dcterms:created xsi:type="dcterms:W3CDTF">2026-10-21T08:16:11Z</dcterms:created>
  <dcterms:modified xsi:type="dcterms:W3CDTF">2026-10-21T08:16:11Z</dcterms:modified>
</cp:coreProperties>
</file>